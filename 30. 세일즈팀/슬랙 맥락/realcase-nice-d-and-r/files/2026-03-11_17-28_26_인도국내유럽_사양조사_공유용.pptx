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98" r:id="rId5"/>
  </p:sldMasterIdLst>
  <p:notesMasterIdLst>
    <p:notesMasterId r:id="rId8"/>
  </p:notesMasterIdLst>
  <p:sldIdLst>
    <p:sldId id="2147470216" r:id="rId6"/>
    <p:sldId id="2147470219" r:id="rId7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5BB5A0-CC7F-294A-CF36-639060F07DB5}" name="노수민 Sumin 매니저 상품운영전략2팀" initials="수노" userId="S::suminxxx@kia.com::410f4ae2-f139-4fdf-8b91-e8e04bac527e" providerId="AD"/>
  <p188:author id="{FA3685F3-474D-174C-237A-8278F9E5CE2E}" name="이원일 책임매니저 상품운영전략2팀" initials="원이" userId="S::wonilee@hyundai.com::d7c9f4b5-6456-41b1-a244-577a6c3485b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원일 이" initials="원이" lastIdx="1" clrIdx="0">
    <p:extLst>
      <p:ext uri="{19B8F6BF-5375-455C-9EA6-DF929625EA0E}">
        <p15:presenceInfo xmlns:p15="http://schemas.microsoft.com/office/powerpoint/2012/main" userId="원일 이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D9F1"/>
    <a:srgbClr val="DCE6F2"/>
    <a:srgbClr val="DDDDDD"/>
    <a:srgbClr val="FDEADA"/>
    <a:srgbClr val="D9D9D9"/>
    <a:srgbClr val="FF3399"/>
    <a:srgbClr val="0000FF"/>
    <a:srgbClr val="F2F2F2"/>
    <a:srgbClr val="EAEADA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79" autoAdjust="0"/>
  </p:normalViewPr>
  <p:slideViewPr>
    <p:cSldViewPr snapToGrid="0">
      <p:cViewPr varScale="1">
        <p:scale>
          <a:sx n="109" d="100"/>
          <a:sy n="109" d="100"/>
        </p:scale>
        <p:origin x="1332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CEA68983-4CAD-475E-B825-6C44B5D9F624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3A952E2E-B9F0-47AB-A1B2-BF6E30C2E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419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5A22-2EBC-1A6D-46FE-B22CF92CC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8D8B72-8F21-A4E9-29DA-688D21EC9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01F7AD-D55C-5DC0-735A-B54999262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B5B587-D83E-8B2E-AE89-C9BF292CC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4305">
              <a:defRPr/>
            </a:pPr>
            <a:fld id="{AEDE249A-3FF5-430F-BEE6-4178597FC747}" type="slidenum">
              <a:rPr lang="ko-KR" altLang="en-US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914305">
                <a:defRPr/>
              </a:pPr>
              <a:t>1</a:t>
            </a:fld>
            <a:endParaRPr lang="ko-KR" altLang="en-US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0967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E4FBE-BD09-7B23-A4E7-D34EAB4F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229277-A201-E56B-4F34-420C04D65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42109D-BB29-BEE9-3EB3-A9B0F9A71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904799-AA61-2A7C-DF94-6CEAC7C36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4305">
              <a:defRPr/>
            </a:pPr>
            <a:fld id="{AEDE249A-3FF5-430F-BEE6-4178597FC747}" type="slidenum">
              <a:rPr lang="ko-KR" altLang="en-US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914305">
                <a:defRPr/>
              </a:pPr>
              <a:t>2</a:t>
            </a:fld>
            <a:endParaRPr lang="ko-KR" altLang="en-US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0904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6"/>
          <p:cNvGrpSpPr>
            <a:grpSpLocks/>
          </p:cNvGrpSpPr>
          <p:nvPr userDrawn="1"/>
        </p:nvGrpSpPr>
        <p:grpSpPr bwMode="auto">
          <a:xfrm>
            <a:off x="269878" y="2689225"/>
            <a:ext cx="9363075" cy="230188"/>
            <a:chOff x="329" y="1821"/>
            <a:chExt cx="6071" cy="0"/>
          </a:xfrm>
        </p:grpSpPr>
        <p:sp>
          <p:nvSpPr>
            <p:cNvPr id="15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endParaRPr lang="ko-KR" altLang="en-US" sz="1900" b="1">
                <a:solidFill>
                  <a:prstClr val="black"/>
                </a:solidFill>
              </a:endParaRPr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endParaRPr lang="ko-KR" altLang="en-US" sz="1900" b="1">
                <a:solidFill>
                  <a:prstClr val="black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95CE7DE6-7C7F-4953-B3E1-ACD13FA39F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79867" y="5903200"/>
            <a:ext cx="2897669" cy="80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952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1" y="718096"/>
            <a:ext cx="7398088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7500885" y="718096"/>
            <a:ext cx="2405113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15B622FC-A965-F80D-38C0-E9AC43959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29713" y="328613"/>
            <a:ext cx="495300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fld id="{B8BE1C84-7276-4095-8E03-C134985BDD9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344660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6"/>
          <p:cNvGrpSpPr>
            <a:grpSpLocks/>
          </p:cNvGrpSpPr>
          <p:nvPr userDrawn="1"/>
        </p:nvGrpSpPr>
        <p:grpSpPr bwMode="auto">
          <a:xfrm>
            <a:off x="269878" y="2689225"/>
            <a:ext cx="9363075" cy="230188"/>
            <a:chOff x="329" y="1821"/>
            <a:chExt cx="6071" cy="0"/>
          </a:xfrm>
        </p:grpSpPr>
        <p:sp>
          <p:nvSpPr>
            <p:cNvPr id="15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endParaRPr lang="ko-KR" altLang="en-US" sz="1900" b="1">
                <a:solidFill>
                  <a:prstClr val="black"/>
                </a:solidFill>
              </a:endParaRPr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Font typeface="Wingdings" pitchFamily="2" charset="2"/>
                <a:buNone/>
              </a:pPr>
              <a:endParaRPr lang="ko-KR" altLang="en-US" sz="1900" b="1">
                <a:solidFill>
                  <a:prstClr val="black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95CE7DE6-7C7F-4953-B3E1-ACD13FA39F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79867" y="5903200"/>
            <a:ext cx="2897669" cy="80524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43302C1-F800-C3B0-0E10-FB541026B426}"/>
              </a:ext>
            </a:extLst>
          </p:cNvPr>
          <p:cNvSpPr/>
          <p:nvPr userDrawn="1"/>
        </p:nvSpPr>
        <p:spPr>
          <a:xfrm>
            <a:off x="0" y="6576646"/>
            <a:ext cx="6392008" cy="281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53634-EF38-EACA-9CC1-F840CFFF52AA}"/>
              </a:ext>
            </a:extLst>
          </p:cNvPr>
          <p:cNvSpPr txBox="1"/>
          <p:nvPr userDrawn="1"/>
        </p:nvSpPr>
        <p:spPr>
          <a:xfrm>
            <a:off x="523875" y="483171"/>
            <a:ext cx="951840" cy="44933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90000" tIns="15070" rIns="0" bIns="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사내한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678374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1" y="718096"/>
            <a:ext cx="7398088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7500885" y="718096"/>
            <a:ext cx="2405113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92BAAF-534F-7B2C-2190-254A4ABDC81E}"/>
              </a:ext>
            </a:extLst>
          </p:cNvPr>
          <p:cNvSpPr/>
          <p:nvPr userDrawn="1"/>
        </p:nvSpPr>
        <p:spPr>
          <a:xfrm>
            <a:off x="0" y="6576646"/>
            <a:ext cx="6392008" cy="281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48FA087A-B61A-747C-CB2C-7BA2BDDAB095}"/>
              </a:ext>
            </a:extLst>
          </p:cNvPr>
          <p:cNvSpPr txBox="1">
            <a:spLocks/>
          </p:cNvSpPr>
          <p:nvPr userDrawn="1"/>
        </p:nvSpPr>
        <p:spPr>
          <a:xfrm>
            <a:off x="8418622" y="278773"/>
            <a:ext cx="1224136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Bef>
                <a:spcPct val="20000"/>
              </a:spcBef>
            </a:pPr>
            <a:fld id="{EDF576BC-29B1-46ED-9E24-803892DFBF4C}" type="slidenum">
              <a:rPr lang="ko-KR" altLang="en-US" sz="1400" kern="400">
                <a:solidFill>
                  <a:schemeClr val="tx1">
                    <a:lumMod val="75000"/>
                    <a:lumOff val="25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pPr defTabSz="914377">
                <a:spcBef>
                  <a:spcPct val="20000"/>
                </a:spcBef>
              </a:pPr>
              <a:t>‹#›</a:t>
            </a:fld>
            <a:endParaRPr lang="ko-KR" altLang="en-US" sz="1400" kern="400">
              <a:solidFill>
                <a:schemeClr val="tx1">
                  <a:lumMod val="75000"/>
                  <a:lumOff val="25000"/>
                </a:schemeClr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357644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3664469-63C5-5B24-E689-3BF470BED888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EFF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1" y="718096"/>
            <a:ext cx="7398088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7500885" y="718096"/>
            <a:ext cx="2405113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48FA087A-B61A-747C-CB2C-7BA2BDDAB095}"/>
              </a:ext>
            </a:extLst>
          </p:cNvPr>
          <p:cNvSpPr txBox="1">
            <a:spLocks/>
          </p:cNvSpPr>
          <p:nvPr userDrawn="1"/>
        </p:nvSpPr>
        <p:spPr>
          <a:xfrm>
            <a:off x="8418622" y="278773"/>
            <a:ext cx="1224136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Bef>
                <a:spcPct val="20000"/>
              </a:spcBef>
            </a:pPr>
            <a:fld id="{EDF576BC-29B1-46ED-9E24-803892DFBF4C}" type="slidenum">
              <a:rPr lang="ko-KR" altLang="en-US" sz="1400" kern="400">
                <a:solidFill>
                  <a:schemeClr val="tx1">
                    <a:lumMod val="75000"/>
                    <a:lumOff val="25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pPr defTabSz="914377">
                <a:spcBef>
                  <a:spcPct val="20000"/>
                </a:spcBef>
              </a:pPr>
              <a:t>‹#›</a:t>
            </a:fld>
            <a:endParaRPr lang="ko-KR" altLang="en-US" sz="1400" kern="400">
              <a:solidFill>
                <a:schemeClr val="tx1">
                  <a:lumMod val="75000"/>
                  <a:lumOff val="25000"/>
                </a:schemeClr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1991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5FFC0-4072-423F-B3DF-D996BBB3BB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02972C-AFE3-390A-60AB-4FB7907F7429}"/>
              </a:ext>
            </a:extLst>
          </p:cNvPr>
          <p:cNvSpPr/>
          <p:nvPr userDrawn="1"/>
        </p:nvSpPr>
        <p:spPr>
          <a:xfrm>
            <a:off x="0" y="6576646"/>
            <a:ext cx="6392008" cy="281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377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0" y="703263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5A4AE7-454D-E779-9F01-9EF8D4D22AC0}"/>
              </a:ext>
            </a:extLst>
          </p:cNvPr>
          <p:cNvSpPr/>
          <p:nvPr userDrawn="1"/>
        </p:nvSpPr>
        <p:spPr>
          <a:xfrm>
            <a:off x="0" y="6576646"/>
            <a:ext cx="6392008" cy="281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589230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716D8D-6DC8-8D2C-6D1B-7A86BC5BD69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092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187961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B9B726-3881-3E66-973C-8048454E949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092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CF7C0F-284F-C8E7-FDA7-279050A5E148}"/>
              </a:ext>
            </a:extLst>
          </p:cNvPr>
          <p:cNvSpPr/>
          <p:nvPr userDrawn="1"/>
        </p:nvSpPr>
        <p:spPr>
          <a:xfrm>
            <a:off x="0" y="6576646"/>
            <a:ext cx="6392008" cy="281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820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84FC3-B784-FF82-0D45-1B6EBFA63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제목 1">
            <a:extLst>
              <a:ext uri="{FF2B5EF4-FFF2-40B4-BE49-F238E27FC236}">
                <a16:creationId xmlns:a16="http://schemas.microsoft.com/office/drawing/2014/main" id="{076CAF6C-0EB2-FE57-9A15-E65B609F44D3}"/>
              </a:ext>
            </a:extLst>
          </p:cNvPr>
          <p:cNvSpPr>
            <a:spLocks/>
          </p:cNvSpPr>
          <p:nvPr/>
        </p:nvSpPr>
        <p:spPr bwMode="auto">
          <a:xfrm>
            <a:off x="273049" y="115888"/>
            <a:ext cx="80114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4" tIns="47892" rIns="95784" bIns="4789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600">
                <a:solidFill>
                  <a:sysClr val="windowText" lastClr="00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j-cs"/>
              </a:rPr>
              <a:t>조사설계</a:t>
            </a:r>
            <a:endParaRPr lang="ko-KR" altLang="en-US" sz="2600" dirty="0">
              <a:solidFill>
                <a:sysClr val="windowText" lastClr="000000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+mj-cs"/>
              <a:sym typeface="Wingdings" pitchFamily="2" charset="2"/>
            </a:endParaRPr>
          </a:p>
        </p:txBody>
      </p:sp>
      <p:sp>
        <p:nvSpPr>
          <p:cNvPr id="32" name="AutoShape 14">
            <a:extLst>
              <a:ext uri="{FF2B5EF4-FFF2-40B4-BE49-F238E27FC236}">
                <a16:creationId xmlns:a16="http://schemas.microsoft.com/office/drawing/2014/main" id="{A4B7567D-C7A3-9FE6-5282-97BF1F04F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1753451"/>
            <a:ext cx="7631112" cy="3596265"/>
          </a:xfrm>
          <a:prstGeom prst="bevel">
            <a:avLst>
              <a:gd name="adj" fmla="val 0"/>
            </a:avLst>
          </a:prstGeom>
          <a:solidFill>
            <a:schemeClr val="bg1"/>
          </a:solidFill>
          <a:ln w="12700" algn="ctr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/>
          <a:lstStyle/>
          <a:p>
            <a:pPr eaLnBrk="1" latinLnBrk="1" hangingPunct="1">
              <a:buClr>
                <a:srgbClr val="413884"/>
              </a:buClr>
              <a:buFont typeface="Wingdings" panose="05000000000000000000" pitchFamily="2" charset="2"/>
              <a:buNone/>
            </a:pPr>
            <a:endParaRPr lang="ko-KR" altLang="en-US" sz="1400" b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4" name="Rectangle 16">
            <a:extLst>
              <a:ext uri="{FF2B5EF4-FFF2-40B4-BE49-F238E27FC236}">
                <a16:creationId xmlns:a16="http://schemas.microsoft.com/office/drawing/2014/main" id="{9213C67F-1E55-3CD6-1C87-0EDD469C2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225" y="6116716"/>
            <a:ext cx="7632700" cy="574598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latinLnBrk="1" hangingPunct="1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정량조사 </a:t>
            </a:r>
            <a:r>
              <a:rPr lang="en-US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인도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델리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</a:t>
            </a:r>
            <a:r>
              <a:rPr lang="ko-KR" altLang="en-US" sz="13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뱅갈루르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하이데라바드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뭄바이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en-US" altLang="ko-KR" sz="1100" b="0" dirty="0">
                <a:solidFill>
                  <a:srgbClr val="777777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,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 국내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, 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유럽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(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독일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eaLnBrk="1" latinLnBrk="1" hangingPunct="1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1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정성조사 </a:t>
            </a:r>
            <a:r>
              <a:rPr lang="en-US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인도</a:t>
            </a:r>
            <a:r>
              <a:rPr lang="en-US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델리</a:t>
            </a:r>
            <a:r>
              <a:rPr lang="en-US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국내</a:t>
            </a:r>
            <a:r>
              <a:rPr lang="en-US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유럽</a:t>
            </a:r>
            <a:r>
              <a:rPr lang="en-US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독일 프랑크푸르트 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(*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정성조사 유럽은 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Option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임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en-US" sz="1100" b="0" dirty="0">
              <a:solidFill>
                <a:srgbClr val="777777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5EAA06-DB06-FE4D-082F-BBE0B05E419C}"/>
              </a:ext>
            </a:extLst>
          </p:cNvPr>
          <p:cNvSpPr txBox="1"/>
          <p:nvPr/>
        </p:nvSpPr>
        <p:spPr>
          <a:xfrm>
            <a:off x="1921143" y="3333530"/>
            <a:ext cx="73648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</a:t>
            </a:r>
            <a:r>
              <a:rPr lang="en-US" altLang="ko-KR" sz="1200" dirty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Ai</a:t>
            </a:r>
            <a:r>
              <a:rPr lang="ko-KR" altLang="en-US" sz="1200" dirty="0" err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모더레이터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모더레이터를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Ai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로 대체하여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인건비를 절감하고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Gang Survey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에 따른 시간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장소의 제약을 극복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9881A1-B91D-37B5-1811-F84C01EE984C}"/>
              </a:ext>
            </a:extLst>
          </p:cNvPr>
          <p:cNvSpPr txBox="1"/>
          <p:nvPr/>
        </p:nvSpPr>
        <p:spPr>
          <a:xfrm>
            <a:off x="1965747" y="3567322"/>
            <a:ext cx="70967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- 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신기술 사양에 대해 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Ai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모더레이터가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보기카드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동영상 등으로 충분히 설명 후 진행하므로 정합성을 높일 수 있는 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갱서베이의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장점과</a:t>
            </a:r>
            <a:b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시간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장소의 제약을 극복하여 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Facility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대여비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참석자 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인티브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케이터링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주차비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등의 예산을 절감가능한 온라인 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서베이의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장점을 결합</a:t>
            </a:r>
            <a:endParaRPr lang="ko-KR" altLang="en-US" sz="100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223873-8C8E-F36B-27A5-E8B6D72919EB}"/>
              </a:ext>
            </a:extLst>
          </p:cNvPr>
          <p:cNvSpPr/>
          <p:nvPr/>
        </p:nvSpPr>
        <p:spPr>
          <a:xfrm>
            <a:off x="387349" y="1715351"/>
            <a:ext cx="1408095" cy="3596265"/>
          </a:xfrm>
          <a:prstGeom prst="roundRect">
            <a:avLst>
              <a:gd name="adj" fmla="val 7564"/>
            </a:avLst>
          </a:prstGeom>
          <a:solidFill>
            <a:schemeClr val="tx2">
              <a:lumMod val="20000"/>
              <a:lumOff val="8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조사방법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6F186A6-1BC4-3DFB-454C-1F0FB2E036EA}"/>
              </a:ext>
            </a:extLst>
          </p:cNvPr>
          <p:cNvSpPr/>
          <p:nvPr/>
        </p:nvSpPr>
        <p:spPr>
          <a:xfrm>
            <a:off x="387349" y="5420063"/>
            <a:ext cx="1408095" cy="625631"/>
          </a:xfrm>
          <a:prstGeom prst="roundRect">
            <a:avLst>
              <a:gd name="adj" fmla="val 7564"/>
            </a:avLst>
          </a:prstGeom>
          <a:solidFill>
            <a:schemeClr val="tx2">
              <a:lumMod val="20000"/>
              <a:lumOff val="8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조사기간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C51AB3A-60DB-DD78-6B9B-EEF072677987}"/>
              </a:ext>
            </a:extLst>
          </p:cNvPr>
          <p:cNvSpPr/>
          <p:nvPr/>
        </p:nvSpPr>
        <p:spPr>
          <a:xfrm>
            <a:off x="387349" y="6130310"/>
            <a:ext cx="1408095" cy="574598"/>
          </a:xfrm>
          <a:prstGeom prst="roundRect">
            <a:avLst>
              <a:gd name="adj" fmla="val 7564"/>
            </a:avLst>
          </a:prstGeom>
          <a:solidFill>
            <a:schemeClr val="tx2">
              <a:lumMod val="20000"/>
              <a:lumOff val="8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조사지역</a:t>
            </a:r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BE71A9FB-B27D-A872-03E5-DF7256DFD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1053" y="1811045"/>
            <a:ext cx="3490327" cy="1391669"/>
          </a:xfrm>
          <a:prstGeom prst="bevel">
            <a:avLst>
              <a:gd name="adj" fmla="val 0"/>
            </a:avLst>
          </a:prstGeom>
          <a:solidFill>
            <a:schemeClr val="bg1"/>
          </a:solidFill>
          <a:ln w="3175" algn="ctr">
            <a:solidFill>
              <a:srgbClr val="C0C0C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t"/>
          <a:lstStyle/>
          <a:p>
            <a:pPr marL="90488" indent="-90488" eaLnBrk="1" latinLnBrk="1" hangingPunct="1">
              <a:buClr>
                <a:srgbClr val="413884"/>
              </a:buClr>
              <a:buFont typeface="Arial" panose="020B0604020202020204" pitchFamily="34" charset="0"/>
              <a:buChar char="•"/>
            </a:pPr>
            <a:endParaRPr lang="en-US" altLang="ko-KR" sz="14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90488" indent="-90488" eaLnBrk="1" latinLnBrk="1" hangingPunct="1">
              <a:buClr>
                <a:srgbClr val="413884"/>
              </a:buClr>
              <a:buFont typeface="Arial" panose="020B0604020202020204" pitchFamily="34" charset="0"/>
              <a:buChar char="•"/>
            </a:pPr>
            <a:endParaRPr lang="en-US" altLang="ko-KR" sz="14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marL="90488" indent="-90488" eaLnBrk="1" latinLnBrk="1" hangingPunct="1">
              <a:buClr>
                <a:srgbClr val="413884"/>
              </a:buCl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정량조사 분석결과 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Probing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 필요대상</a:t>
            </a:r>
            <a:endParaRPr lang="ko-KR" altLang="en-US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C5C6338C-190E-D7C5-87B1-E830454AF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225" y="5429618"/>
            <a:ext cx="7632700" cy="609992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latinLnBrk="1" hangingPunct="1">
              <a:buFont typeface="Wingdings" panose="05000000000000000000" pitchFamily="2" charset="2"/>
              <a:buChar char="§"/>
            </a:pP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전</a:t>
            </a:r>
            <a:r>
              <a:rPr lang="ko-KR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체 일정 : 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’</a:t>
            </a:r>
            <a:r>
              <a:rPr lang="en-US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26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년 </a:t>
            </a:r>
            <a:r>
              <a:rPr lang="en-US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~3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월 조사설계 </a:t>
            </a:r>
            <a:r>
              <a:rPr lang="en-US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품의 ▶ </a:t>
            </a:r>
            <a:r>
              <a:rPr lang="en-US" altLang="ko-KR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4</a:t>
            </a:r>
            <a:r>
              <a:rPr lang="en-US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~5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월 정량실사 ▶</a:t>
            </a:r>
            <a:r>
              <a:rPr lang="en-US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6~7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월 정성실사 ▶</a:t>
            </a:r>
            <a:r>
              <a:rPr lang="en-US" altLang="ko-KR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8</a:t>
            </a:r>
            <a:r>
              <a:rPr lang="ko-KR" altLang="en-US" sz="13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월</a:t>
            </a:r>
            <a:r>
              <a:rPr lang="ko-KR" altLang="en-US" sz="13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보고</a:t>
            </a:r>
            <a:endParaRPr lang="ko-KR" altLang="ko-KR" sz="1300" b="0" dirty="0">
              <a:solidFill>
                <a:srgbClr val="777777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5" name="Picture 2" descr="시장 조사의 온라인 설문 조사가 변화를 주도하고 있습니다">
            <a:extLst>
              <a:ext uri="{FF2B5EF4-FFF2-40B4-BE49-F238E27FC236}">
                <a16:creationId xmlns:a16="http://schemas.microsoft.com/office/drawing/2014/main" id="{5301D557-16BB-A3CD-E4B0-45A816B11D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7"/>
          <a:stretch/>
        </p:blipFill>
        <p:spPr bwMode="auto">
          <a:xfrm>
            <a:off x="2182324" y="4080905"/>
            <a:ext cx="2135740" cy="100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97A1877-8F9A-A7E1-872E-4D62A0D17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550" y="4145368"/>
            <a:ext cx="961918" cy="9619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945279-D9ED-7B2E-0FFA-C94CA8E390C3}"/>
              </a:ext>
            </a:extLst>
          </p:cNvPr>
          <p:cNvSpPr txBox="1"/>
          <p:nvPr/>
        </p:nvSpPr>
        <p:spPr>
          <a:xfrm>
            <a:off x="2652047" y="5080784"/>
            <a:ext cx="12791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 sz="9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On-Line</a:t>
            </a:r>
            <a:r>
              <a:rPr lang="ko-KR" altLang="en-US" sz="9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90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Survey</a:t>
            </a:r>
            <a:endParaRPr lang="ko-KR" altLang="en-US" sz="90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FF95C-2AF6-FC9B-3160-BFF34757F459}"/>
              </a:ext>
            </a:extLst>
          </p:cNvPr>
          <p:cNvSpPr txBox="1"/>
          <p:nvPr/>
        </p:nvSpPr>
        <p:spPr>
          <a:xfrm>
            <a:off x="7082004" y="5080784"/>
            <a:ext cx="12791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Ai Moderating</a:t>
            </a:r>
            <a:endParaRPr lang="ko-KR" altLang="en-US" sz="9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1C7D381-333E-F6B8-764B-28125A67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8" y="823913"/>
            <a:ext cx="9170987" cy="809625"/>
          </a:xfrm>
          <a:prstGeom prst="rect">
            <a:avLst/>
          </a:prstGeom>
          <a:solidFill>
            <a:srgbClr val="C6D9F1">
              <a:alpha val="34118"/>
            </a:srgbClr>
          </a:solidFill>
          <a:ln>
            <a:noFill/>
          </a:ln>
        </p:spPr>
        <p:txBody>
          <a:bodyPr wrap="none" lIns="342000" tIns="0" rIns="342000" bIns="0" anchor="ctr"/>
          <a:lstStyle>
            <a:lvl1pPr latinLnBrk="1"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fontAlgn="base">
              <a:spcBef>
                <a:spcPct val="15000"/>
              </a:spcBef>
              <a:spcAft>
                <a:spcPct val="0"/>
              </a:spcAft>
            </a:pPr>
            <a:r>
              <a:rPr lang="ko-KR" altLang="en-US" sz="1600" b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소비자의 사    </a:t>
            </a:r>
            <a:endParaRPr lang="en-US" altLang="ko-KR" sz="1600" b="0"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0C04D8C6-F9BC-6CBC-C108-EF2970367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985838"/>
            <a:ext cx="1087438" cy="46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CCCC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22" tIns="45710" rIns="91422" bIns="45710" anchor="ctr"/>
          <a:lstStyle>
            <a:lvl1pPr latinLnBrk="1"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57200" latinLnBrk="1"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914400" latinLnBrk="1"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371600" latinLnBrk="1"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1825625" latinLnBrk="1"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282825" indent="-23495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740025" indent="-23495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197225" indent="-23495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654425" indent="-23495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조사 목적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1D0A95-7239-DA79-2E44-ECBECF8BE350}"/>
              </a:ext>
            </a:extLst>
          </p:cNvPr>
          <p:cNvSpPr txBox="1"/>
          <p:nvPr/>
        </p:nvSpPr>
        <p:spPr>
          <a:xfrm>
            <a:off x="1799086" y="924776"/>
            <a:ext cx="6485388" cy="62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15000"/>
              </a:spcBef>
              <a:spcAft>
                <a:spcPct val="0"/>
              </a:spcAft>
            </a:pPr>
            <a:r>
              <a:rPr lang="ko-KR" altLang="en-US" sz="1600" b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①</a:t>
            </a:r>
            <a:r>
              <a:rPr lang="en-US" altLang="ko-KR" sz="1600" b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600" b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소비자 인식 적정 사양가치</a:t>
            </a:r>
            <a:r>
              <a:rPr lang="ko-KR" altLang="en-US" sz="160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를 파악하여 전사 표준 사양가치관리에 적용</a:t>
            </a:r>
            <a:endParaRPr lang="en-US" altLang="ko-KR" sz="1600" b="0"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fontAlgn="base">
              <a:spcBef>
                <a:spcPct val="15000"/>
              </a:spcBef>
              <a:spcAft>
                <a:spcPct val="0"/>
              </a:spcAft>
            </a:pPr>
            <a:r>
              <a:rPr lang="ko-KR" altLang="en-US" sz="1600" b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② 사양 운영전략수립을 위</a:t>
            </a:r>
            <a:r>
              <a:rPr lang="ko-KR" altLang="en-US" sz="160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한 데이터 확보 </a:t>
            </a:r>
            <a:r>
              <a:rPr lang="en-US" altLang="ko-KR" sz="120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lang="ko-KR" altLang="en-US" sz="120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각 개별사양에 대한 인식</a:t>
            </a:r>
            <a:r>
              <a:rPr lang="en-US" altLang="ko-KR" sz="120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lang="ko-KR" altLang="en-US" sz="120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태도</a:t>
            </a:r>
            <a:r>
              <a:rPr lang="en-US" altLang="ko-KR" sz="120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en-US" altLang="ko-KR" sz="1600" b="0"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77DA20C3-4B1F-AB99-2D11-648073C84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180" y="2556383"/>
            <a:ext cx="4121337" cy="646331"/>
          </a:xfrm>
          <a:prstGeom prst="bevel">
            <a:avLst>
              <a:gd name="adj" fmla="val 0"/>
            </a:avLst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anchor="t">
            <a:noAutofit/>
          </a:bodyPr>
          <a:lstStyle/>
          <a:p>
            <a:pPr eaLnBrk="1" latinLnBrk="1" hangingPunct="1">
              <a:buClr>
                <a:srgbClr val="413884"/>
              </a:buClr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신기술 사양에 대해서는 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Ai</a:t>
            </a:r>
            <a:r>
              <a:rPr lang="ko-KR" altLang="en-US" sz="12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모더레이터가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응답자가 완전히 </a:t>
            </a:r>
            <a:b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이해</a:t>
            </a: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할 때 까지 설명을 진행함</a:t>
            </a:r>
            <a:b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전체 사양대상 조사 진행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1259A1AB-B0B5-1BCA-3952-0EEF442D3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468" y="2564675"/>
            <a:ext cx="4121337" cy="325994"/>
          </a:xfrm>
          <a:prstGeom prst="bevel">
            <a:avLst>
              <a:gd name="adj" fmla="val 0"/>
            </a:avLst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anchor="t">
            <a:noAutofit/>
          </a:bodyPr>
          <a:lstStyle/>
          <a:p>
            <a:pPr>
              <a:buClr>
                <a:srgbClr val="413884"/>
              </a:buClr>
            </a:pP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Ai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주도로 실시한 조사결과를 인간 소비자 관점에서 </a:t>
            </a:r>
            <a:b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</a:t>
            </a:r>
            <a:r>
              <a:rPr lang="ko-KR" altLang="en-US" sz="12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정합성 보완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21" name="그림 20" descr="실내, 의류, 여성, 사람이(가) 표시된 사진">
            <a:extLst>
              <a:ext uri="{FF2B5EF4-FFF2-40B4-BE49-F238E27FC236}">
                <a16:creationId xmlns:a16="http://schemas.microsoft.com/office/drawing/2014/main" id="{DFA04C38-589A-3BD2-508A-1FBCE552F5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" t="1343" r="729" b="19151"/>
          <a:stretch>
            <a:fillRect/>
          </a:stretch>
        </p:blipFill>
        <p:spPr>
          <a:xfrm>
            <a:off x="6723980" y="4087606"/>
            <a:ext cx="2196867" cy="990832"/>
          </a:xfrm>
          <a:prstGeom prst="rect">
            <a:avLst/>
          </a:prstGeom>
        </p:spPr>
      </p:pic>
      <p:sp>
        <p:nvSpPr>
          <p:cNvPr id="30" name="AutoShape 12">
            <a:extLst>
              <a:ext uri="{FF2B5EF4-FFF2-40B4-BE49-F238E27FC236}">
                <a16:creationId xmlns:a16="http://schemas.microsoft.com/office/drawing/2014/main" id="{4DFB7572-5A57-1B09-E956-74E5DFC2A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305" y="1806719"/>
            <a:ext cx="3480074" cy="403225"/>
          </a:xfrm>
          <a:prstGeom prst="bevel">
            <a:avLst>
              <a:gd name="adj" fmla="val 0"/>
            </a:avLst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latinLnBrk="1" hangingPunct="1">
              <a:buClr>
                <a:srgbClr val="413884"/>
              </a:buClr>
              <a:buFont typeface="Wingdings" panose="05000000000000000000" pitchFamily="2" charset="2"/>
              <a:buNone/>
            </a:pPr>
            <a:r>
              <a:rPr lang="ko-KR" altLang="en-US" sz="14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정성조사 </a:t>
            </a:r>
            <a:r>
              <a:rPr lang="en-US" altLang="ko-KR" sz="14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MGD)</a:t>
            </a:r>
            <a:endParaRPr lang="ko-KR" altLang="en-US" sz="1400" b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DFA52151-6EE7-FF49-B0D7-61DFFD848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1530" y="1807755"/>
            <a:ext cx="3480074" cy="403225"/>
          </a:xfrm>
          <a:prstGeom prst="bevel">
            <a:avLst>
              <a:gd name="adj" fmla="val 0"/>
            </a:avLst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latinLnBrk="1" hangingPunct="1">
              <a:buClr>
                <a:srgbClr val="413884"/>
              </a:buClr>
              <a:buFont typeface="Wingdings" panose="05000000000000000000" pitchFamily="2" charset="2"/>
              <a:buNone/>
            </a:pPr>
            <a:r>
              <a:rPr lang="ko-KR" altLang="en-US" sz="14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정량조사 </a:t>
            </a:r>
            <a:r>
              <a:rPr lang="en-US" altLang="ko-KR" sz="14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400" b="0" dirty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온라인 </a:t>
            </a:r>
            <a:r>
              <a:rPr lang="en-US" altLang="ko-KR" sz="1400" b="0" dirty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Ai </a:t>
            </a:r>
            <a:r>
              <a:rPr lang="ko-KR" altLang="en-US" sz="1400" b="0" dirty="0" err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서베이</a:t>
            </a:r>
            <a:r>
              <a:rPr lang="en-US" altLang="ko-KR" sz="14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en-US" sz="1400" b="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993783C3-83C6-7866-32FA-B609A6B66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957" y="2267934"/>
            <a:ext cx="3480074" cy="313942"/>
          </a:xfrm>
          <a:prstGeom prst="bevel">
            <a:avLst>
              <a:gd name="adj" fmla="val 0"/>
            </a:avLst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none" anchor="t"/>
          <a:lstStyle/>
          <a:p>
            <a:pPr marL="90488" indent="-90488" eaLnBrk="1" latinLnBrk="1" hangingPunct="1">
              <a:buClr>
                <a:srgbClr val="413884"/>
              </a:buClr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Ai </a:t>
            </a:r>
            <a:r>
              <a:rPr lang="ko-KR" altLang="en-US" sz="14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모더레이터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진행 </a:t>
            </a:r>
            <a:r>
              <a:rPr lang="en-US" altLang="ko-KR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4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전수 온라인 조사</a:t>
            </a:r>
            <a:endParaRPr lang="en-US" altLang="ko-KR" sz="12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95BC2FD-23FD-A818-20C9-2FED4457A1BE}"/>
              </a:ext>
            </a:extLst>
          </p:cNvPr>
          <p:cNvCxnSpPr>
            <a:cxnSpLocks/>
          </p:cNvCxnSpPr>
          <p:nvPr/>
        </p:nvCxnSpPr>
        <p:spPr>
          <a:xfrm>
            <a:off x="6944718" y="2138225"/>
            <a:ext cx="1455211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D46CF8E-437B-6405-FC97-4A2144F2896F}"/>
              </a:ext>
            </a:extLst>
          </p:cNvPr>
          <p:cNvCxnSpPr>
            <a:cxnSpLocks/>
          </p:cNvCxnSpPr>
          <p:nvPr/>
        </p:nvCxnSpPr>
        <p:spPr>
          <a:xfrm>
            <a:off x="2811989" y="2138225"/>
            <a:ext cx="2181352" cy="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582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C631-C6D3-3CCD-564C-C1E46C00F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제목 1">
            <a:extLst>
              <a:ext uri="{FF2B5EF4-FFF2-40B4-BE49-F238E27FC236}">
                <a16:creationId xmlns:a16="http://schemas.microsoft.com/office/drawing/2014/main" id="{15347656-EB30-A59E-5078-B547C52C8B71}"/>
              </a:ext>
            </a:extLst>
          </p:cNvPr>
          <p:cNvSpPr>
            <a:spLocks/>
          </p:cNvSpPr>
          <p:nvPr/>
        </p:nvSpPr>
        <p:spPr bwMode="auto">
          <a:xfrm>
            <a:off x="273049" y="115888"/>
            <a:ext cx="80114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84" tIns="47892" rIns="95784" bIns="47892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600" dirty="0">
                <a:solidFill>
                  <a:sysClr val="windowText" lastClr="00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+mj-cs"/>
              </a:rPr>
              <a:t>조사내용</a:t>
            </a:r>
            <a:endParaRPr lang="ko-KR" altLang="en-US" sz="2600" dirty="0">
              <a:solidFill>
                <a:sysClr val="windowText" lastClr="000000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+mj-cs"/>
              <a:sym typeface="Wingdings" pitchFamily="2" charset="2"/>
            </a:endParaRPr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0807F4F-3BDB-02A0-DA45-BB704F3A5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178714"/>
              </p:ext>
            </p:extLst>
          </p:nvPr>
        </p:nvGraphicFramePr>
        <p:xfrm>
          <a:off x="273050" y="849141"/>
          <a:ext cx="9375775" cy="4386263"/>
        </p:xfrm>
        <a:graphic>
          <a:graphicData uri="http://schemas.openxmlformats.org/drawingml/2006/table">
            <a:tbl>
              <a:tblPr/>
              <a:tblGrid>
                <a:gridCol w="1777000">
                  <a:extLst>
                    <a:ext uri="{9D8B030D-6E8A-4147-A177-3AD203B41FA5}">
                      <a16:colId xmlns:a16="http://schemas.microsoft.com/office/drawing/2014/main" val="3779916334"/>
                    </a:ext>
                  </a:extLst>
                </a:gridCol>
                <a:gridCol w="7598775">
                  <a:extLst>
                    <a:ext uri="{9D8B030D-6E8A-4147-A177-3AD203B41FA5}">
                      <a16:colId xmlns:a16="http://schemas.microsoft.com/office/drawing/2014/main" val="40411988"/>
                    </a:ext>
                  </a:extLst>
                </a:gridCol>
              </a:tblGrid>
              <a:tr h="425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4572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9144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371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8288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조사 방법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4572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9144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371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8288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상세 내용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872161"/>
                  </a:ext>
                </a:extLst>
              </a:tr>
              <a:tr h="396081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4572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9144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371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8288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정량조사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온라인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Ai</a:t>
                      </a: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서베이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4572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9144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371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8288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indent="-23495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인구통계 특성 및 자동차 관련 기본 정보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-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사양운영이 차량 구매에 미친 영향도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사양관련 소비자 태도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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세그먼트별 선호사양특성 및 전략운용사양 발굴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개별 사양 소비자 필요도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구매의향도 평가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표준 사양가치를 기준으로 </a:t>
                      </a: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차급별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30~40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 사양 조사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- 5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개의 </a:t>
                      </a: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사양군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기준으로 소비자 수용도 평가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108000" marR="0" marT="72000" marB="0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381035"/>
                  </a:ext>
                </a:extLst>
              </a:tr>
            </a:tbl>
          </a:graphicData>
        </a:graphic>
      </p:graphicFrame>
      <p:sp>
        <p:nvSpPr>
          <p:cNvPr id="8" name="Text Box 22">
            <a:extLst>
              <a:ext uri="{FF2B5EF4-FFF2-40B4-BE49-F238E27FC236}">
                <a16:creationId xmlns:a16="http://schemas.microsoft.com/office/drawing/2014/main" id="{C8962575-D0B6-246B-040F-B2FCFD7F4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5803" y="2657640"/>
            <a:ext cx="2392998" cy="325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76288" indent="-298450" latinLnBrk="1">
              <a:spcBef>
                <a:spcPct val="20000"/>
              </a:spcBef>
              <a:buFont typeface="Arial" panose="020B0604020202020204" pitchFamily="34" charset="0"/>
              <a:buChar char="–"/>
              <a:defRPr sz="29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95388" indent="-238125" latinLnBrk="1">
              <a:spcBef>
                <a:spcPct val="20000"/>
              </a:spcBef>
              <a:buFont typeface="Arial" panose="020B0604020202020204" pitchFamily="34" charset="0"/>
              <a:buChar char="•"/>
              <a:defRPr sz="25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74813" indent="-238125" latinLnBrk="1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154238" indent="-238125" latinLnBrk="1">
              <a:spcBef>
                <a:spcPct val="20000"/>
              </a:spcBef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611438" indent="-2381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3068638" indent="-2381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525838" indent="-2381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983038" indent="-2381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defTabSz="914400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altLang="ko-KR" sz="1000" b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</a:t>
            </a:r>
            <a:r>
              <a:rPr lang="ko-KR" altLang="en-US" sz="1000" b="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신사양</a:t>
            </a:r>
            <a:r>
              <a:rPr lang="ko-KR" altLang="en-US" sz="10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0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0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일부차종 적용사양 → 확대 검토</a:t>
            </a:r>
          </a:p>
          <a:p>
            <a:pPr defTabSz="914400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ko-KR" altLang="en-US" sz="10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신기술 </a:t>
            </a:r>
            <a:r>
              <a:rPr lang="en-US" altLang="ko-KR" sz="10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000" b="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선행개발중</a:t>
            </a:r>
            <a:r>
              <a:rPr lang="ko-KR" altLang="en-US" sz="1000" b="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→ 시장내 미 출시</a:t>
            </a:r>
          </a:p>
        </p:txBody>
      </p:sp>
      <p:graphicFrame>
        <p:nvGraphicFramePr>
          <p:cNvPr id="9" name="Group 23">
            <a:extLst>
              <a:ext uri="{FF2B5EF4-FFF2-40B4-BE49-F238E27FC236}">
                <a16:creationId xmlns:a16="http://schemas.microsoft.com/office/drawing/2014/main" id="{730BD914-1A76-D1EB-D95F-80CD9C3BA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774728"/>
              </p:ext>
            </p:extLst>
          </p:nvPr>
        </p:nvGraphicFramePr>
        <p:xfrm>
          <a:off x="2216150" y="2949404"/>
          <a:ext cx="7232650" cy="2128837"/>
        </p:xfrm>
        <a:graphic>
          <a:graphicData uri="http://schemas.openxmlformats.org/drawingml/2006/table">
            <a:tbl>
              <a:tblPr/>
              <a:tblGrid>
                <a:gridCol w="1486385">
                  <a:extLst>
                    <a:ext uri="{9D8B030D-6E8A-4147-A177-3AD203B41FA5}">
                      <a16:colId xmlns:a16="http://schemas.microsoft.com/office/drawing/2014/main" val="829120855"/>
                    </a:ext>
                  </a:extLst>
                </a:gridCol>
                <a:gridCol w="929180">
                  <a:extLst>
                    <a:ext uri="{9D8B030D-6E8A-4147-A177-3AD203B41FA5}">
                      <a16:colId xmlns:a16="http://schemas.microsoft.com/office/drawing/2014/main" val="2134092801"/>
                    </a:ext>
                  </a:extLst>
                </a:gridCol>
                <a:gridCol w="4817085">
                  <a:extLst>
                    <a:ext uri="{9D8B030D-6E8A-4147-A177-3AD203B41FA5}">
                      <a16:colId xmlns:a16="http://schemas.microsoft.com/office/drawing/2014/main" val="1387862229"/>
                    </a:ext>
                  </a:extLst>
                </a:gridCol>
              </a:tblGrid>
              <a:tr h="29195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4366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91611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3733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8305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2877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7449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 분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평가 내용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4366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91611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3733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8305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2877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7449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20657"/>
                  </a:ext>
                </a:extLst>
              </a:tr>
              <a:tr h="353143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4366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91611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3733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8305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2877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7449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ADAS</a:t>
                      </a:r>
                      <a:endParaRPr kumimoji="1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소비자 인식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적정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사양가치</a:t>
                      </a: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sym typeface="Wingdings" panose="05000000000000000000" pitchFamily="2" charset="2"/>
                      </a:endParaRPr>
                    </a:p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sym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4366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91611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3733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8305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2877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7449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85725" marR="0" lvl="0" indent="-85725" algn="l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 선호 기능 파악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전략적 운용방안 파악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패키지 및 주요 기능별 사양가치 확인</a:t>
                      </a: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123590"/>
                  </a:ext>
                </a:extLst>
              </a:tr>
              <a:tr h="35139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4366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91611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3733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8305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2877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7449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Infotainment</a:t>
                      </a:r>
                      <a:endParaRPr kumimoji="1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sym typeface="Wingdings" panose="05000000000000000000" pitchFamily="2" charset="2"/>
                      </a:endParaRP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4366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91611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3733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8305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2877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7449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85725" marR="0" lvl="0" indent="-85725" algn="l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신기술 적용 여부 및 우선순위 판단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, USP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활용 및 하위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차급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확대 적용방안</a:t>
                      </a: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88368"/>
                  </a:ext>
                </a:extLst>
              </a:tr>
              <a:tr h="35139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4366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91611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3733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8305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2877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7449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EV, 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안전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endParaRPr kumimoji="1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sym typeface="Wingdings" panose="05000000000000000000" pitchFamily="2" charset="2"/>
                      </a:endParaRP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4366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91611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3733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8305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2877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7449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85725" marR="0" lvl="0" indent="-85725" algn="l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성능과 관련한 가치 구체화 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(AER,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급충속도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등</a:t>
                      </a:r>
                      <a:r>
                        <a:rPr kumimoji="1" lang="en-US" altLang="ko-KR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), </a:t>
                      </a:r>
                      <a:r>
                        <a:rPr kumimoji="1" lang="ko-KR" altLang="en-US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안전 신기술 사양에 대한 </a:t>
                      </a:r>
                      <a:r>
                        <a:rPr kumimoji="1" lang="ko-KR" altLang="en-US" sz="11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인식등</a:t>
                      </a:r>
                      <a:endParaRPr kumimoji="1" lang="ko-KR" altLang="en-US" sz="11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408990"/>
                  </a:ext>
                </a:extLst>
              </a:tr>
              <a:tr h="42954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4366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91611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3733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8305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2877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7449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SDV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사양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sym typeface="Wingdings" panose="05000000000000000000" pitchFamily="2" charset="2"/>
                      </a:endParaRP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4366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91611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3733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8305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2877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7449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85725" marR="0" lvl="0" indent="-85725" algn="l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SDV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시대에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OTA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로 추가되는 기능들의 가치평가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85725" marR="0" lvl="0" indent="-85725" algn="l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고객지불의사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(WTP)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에 기초한 사양가치 산정</a:t>
                      </a: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007182"/>
                  </a:ext>
                </a:extLst>
              </a:tr>
              <a:tr h="35139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4366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91611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3733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8305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2877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7449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불용</a:t>
                      </a:r>
                      <a:r>
                        <a:rPr kumimoji="1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sym typeface="Wingdings" panose="05000000000000000000" pitchFamily="2" charset="2"/>
                        </a:rPr>
                        <a:t>보편화 사양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endParaRPr kumimoji="1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sym typeface="Wingdings" panose="05000000000000000000" pitchFamily="2" charset="2"/>
                      </a:endParaRP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3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436688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191611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3733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8305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2877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744913" indent="-234950" defTabSz="957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85725" marR="0" lvl="0" indent="-85725" algn="l" defTabSz="957263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미인지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/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비소구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사양 평가로 삭제가능 사양 발굴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315444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C700D1E-6FEF-886C-0AC6-B281ECA24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4409135"/>
            <a:ext cx="269057" cy="26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051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4424C64E1810C4DAB0273B6BAE21428" ma:contentTypeVersion="14" ma:contentTypeDescription="새 문서를 만듭니다." ma:contentTypeScope="" ma:versionID="fac86be299dc922465442d752ad313ab">
  <xsd:schema xmlns:xsd="http://www.w3.org/2001/XMLSchema" xmlns:xs="http://www.w3.org/2001/XMLSchema" xmlns:p="http://schemas.microsoft.com/office/2006/metadata/properties" xmlns:ns2="27199a8b-7161-441c-85a5-05cb2e478e70" xmlns:ns3="9f9c0a96-0f24-44a2-8bdf-891dbe882d21" targetNamespace="http://schemas.microsoft.com/office/2006/metadata/properties" ma:root="true" ma:fieldsID="6e74cabf837cf02f7118624d45595d1d" ns2:_="" ns3:_="">
    <xsd:import namespace="27199a8b-7161-441c-85a5-05cb2e478e70"/>
    <xsd:import namespace="9f9c0a96-0f24-44a2-8bdf-891dbe882d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99a8b-7161-441c-85a5-05cb2e478e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이미지 태그" ma:readOnly="false" ma:fieldId="{5cf76f15-5ced-4ddc-b409-7134ff3c332f}" ma:taxonomyMulti="true" ma:sspId="717ace68-1afd-4538-93f6-185096839b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9c0a96-0f24-44a2-8bdf-891dbe882d2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eabd6b30-a950-4e1a-b189-2a485242ed1d}" ma:internalName="TaxCatchAll" ma:showField="CatchAllData" ma:web="9f9c0a96-0f24-44a2-8bdf-891dbe882d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7199a8b-7161-441c-85a5-05cb2e478e70">
      <Terms xmlns="http://schemas.microsoft.com/office/infopath/2007/PartnerControls"/>
    </lcf76f155ced4ddcb4097134ff3c332f>
    <TaxCatchAll xmlns="9f9c0a96-0f24-44a2-8bdf-891dbe882d21" xsi:nil="true"/>
  </documentManagement>
</p:properties>
</file>

<file path=customXml/itemProps1.xml><?xml version="1.0" encoding="utf-8"?>
<ds:datastoreItem xmlns:ds="http://schemas.openxmlformats.org/officeDocument/2006/customXml" ds:itemID="{F2E23BCD-62DF-4128-984F-369E13ED37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199a8b-7161-441c-85a5-05cb2e478e70"/>
    <ds:schemaRef ds:uri="9f9c0a96-0f24-44a2-8bdf-891dbe882d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BE20734-DDC0-4BC7-9D1E-AF406FC7CE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001803-2D21-430B-A00F-BC1B31394447}">
  <ds:schemaRefs>
    <ds:schemaRef ds:uri="27199a8b-7161-441c-85a5-05cb2e478e70"/>
    <ds:schemaRef ds:uri="9f9c0a96-0f24-44a2-8bdf-891dbe882d2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3084</TotalTime>
  <Words>390</Words>
  <Application>Microsoft Office PowerPoint</Application>
  <PresentationFormat>A4 용지(210x297mm)</PresentationFormat>
  <Paragraphs>61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Aptos</vt:lpstr>
      <vt:lpstr>굴림</vt:lpstr>
      <vt:lpstr>맑은 고딕</vt:lpstr>
      <vt:lpstr>현대하모니 B</vt:lpstr>
      <vt:lpstr>현대하모니 L</vt:lpstr>
      <vt:lpstr>현대하모니 M</vt:lpstr>
      <vt:lpstr>Arial</vt:lpstr>
      <vt:lpstr>Wingdings</vt:lpstr>
      <vt:lpstr>1_Office 테마</vt:lpstr>
      <vt:lpstr>5_Office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이원일</dc:creator>
  <cp:lastModifiedBy>우태하</cp:lastModifiedBy>
  <cp:revision>3</cp:revision>
  <cp:lastPrinted>2024-05-09T23:41:05Z</cp:lastPrinted>
  <dcterms:created xsi:type="dcterms:W3CDTF">2019-12-23T04:49:25Z</dcterms:created>
  <dcterms:modified xsi:type="dcterms:W3CDTF">2026-03-09T07:23:31Z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0x01010054424C64E1810C4DAB0273B6BAE21428</vt:lpwstr>
  </property>
  <property fmtid="{D5CDD505-2E9C-101B-9397-08002B2CF9AE}" pid="3" name="Order">
    <vt:r8>3400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MediaServiceImageTags">
    <vt:lpwstr/>
  </property>
  <property fmtid="{D5CDD505-2E9C-101B-9397-08002B2CF9AE}" pid="10" name="TriggerFlowInfo">
    <vt:lpwstr/>
  </property>
  <property fmtid="{D5CDD505-2E9C-101B-9397-08002B2CF9AE}" pid="11" name="MSIP_Label_84883e49-c40c-4c70-af6e-4047d87bba49_Enabled">
    <vt:lpwstr>true</vt:lpwstr>
  </property>
  <property fmtid="{D5CDD505-2E9C-101B-9397-08002B2CF9AE}" pid="12" name="MSIP_Label_84883e49-c40c-4c70-af6e-4047d87bba49_SetDate">
    <vt:lpwstr>2026-03-09T04:40:51Z</vt:lpwstr>
  </property>
  <property fmtid="{D5CDD505-2E9C-101B-9397-08002B2CF9AE}" pid="13" name="MSIP_Label_84883e49-c40c-4c70-af6e-4047d87bba49_Method">
    <vt:lpwstr>Privileged</vt:lpwstr>
  </property>
  <property fmtid="{D5CDD505-2E9C-101B-9397-08002B2CF9AE}" pid="14" name="MSIP_Label_84883e49-c40c-4c70-af6e-4047d87bba49_Name">
    <vt:lpwstr>평문 (AnyUser)</vt:lpwstr>
  </property>
  <property fmtid="{D5CDD505-2E9C-101B-9397-08002B2CF9AE}" pid="15" name="MSIP_Label_84883e49-c40c-4c70-af6e-4047d87bba49_SiteId">
    <vt:lpwstr>f85ca5f1-aa23-4252-a83a-443d333b1fe7</vt:lpwstr>
  </property>
  <property fmtid="{D5CDD505-2E9C-101B-9397-08002B2CF9AE}" pid="16" name="MSIP_Label_84883e49-c40c-4c70-af6e-4047d87bba49_ActionId">
    <vt:lpwstr>fdaa6789-b01e-4063-8e7c-3baefeb4cab7</vt:lpwstr>
  </property>
  <property fmtid="{D5CDD505-2E9C-101B-9397-08002B2CF9AE}" pid="17" name="MSIP_Label_84883e49-c40c-4c70-af6e-4047d87bba49_ContentBits">
    <vt:lpwstr>2</vt:lpwstr>
  </property>
  <property fmtid="{D5CDD505-2E9C-101B-9397-08002B2CF9AE}" pid="18" name="MSIP_Label_84883e49-c40c-4c70-af6e-4047d87bba49_Tag">
    <vt:lpwstr>10, 0, 1, 1</vt:lpwstr>
  </property>
  <property fmtid="{D5CDD505-2E9C-101B-9397-08002B2CF9AE}" pid="19" name="ClassificationContentMarkingFooterLocations">
    <vt:lpwstr>1_Office 테마:3\5_Office 테마:3</vt:lpwstr>
  </property>
  <property fmtid="{D5CDD505-2E9C-101B-9397-08002B2CF9AE}" pid="20" name="ClassificationContentMarkingFooterText">
    <vt:lpwstr>본 문서는 현대자동차·기아의 정보자산으로 귀사와의 비밀유지계약 및 제반법률에 따라 법적 보호를 받습니다.</vt:lpwstr>
  </property>
</Properties>
</file>